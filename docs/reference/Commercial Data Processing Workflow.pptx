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951DC3-CEE0-4250-BAB0-AFE8A5FE3AFB}" v="12" dt="2026-01-06T21:01:09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4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holas Sisco" userId="39e924e0-cebb-4a22-9f35-5834698577ac" providerId="ADAL" clId="{0503DD1E-3195-41D0-B86B-665AB85FDE64}"/>
    <pc:docChg chg="undo custSel modSld">
      <pc:chgData name="Nicholas Sisco" userId="39e924e0-cebb-4a22-9f35-5834698577ac" providerId="ADAL" clId="{0503DD1E-3195-41D0-B86B-665AB85FDE64}" dt="2026-01-06T21:06:36.934" v="658" actId="20577"/>
      <pc:docMkLst>
        <pc:docMk/>
      </pc:docMkLst>
      <pc:sldChg chg="modSp mod">
        <pc:chgData name="Nicholas Sisco" userId="39e924e0-cebb-4a22-9f35-5834698577ac" providerId="ADAL" clId="{0503DD1E-3195-41D0-B86B-665AB85FDE64}" dt="2026-01-06T20:45:11.909" v="1" actId="27636"/>
        <pc:sldMkLst>
          <pc:docMk/>
          <pc:sldMk cId="3497456121" sldId="269"/>
        </pc:sldMkLst>
        <pc:spChg chg="mod">
          <ac:chgData name="Nicholas Sisco" userId="39e924e0-cebb-4a22-9f35-5834698577ac" providerId="ADAL" clId="{0503DD1E-3195-41D0-B86B-665AB85FDE64}" dt="2026-01-06T20:45:11.909" v="1" actId="27636"/>
          <ac:spMkLst>
            <pc:docMk/>
            <pc:sldMk cId="3497456121" sldId="269"/>
            <ac:spMk id="3" creationId="{6682B82C-0719-B672-EB2B-CE6ADFB051DC}"/>
          </ac:spMkLst>
        </pc:spChg>
      </pc:sldChg>
      <pc:sldChg chg="modSp mod">
        <pc:chgData name="Nicholas Sisco" userId="39e924e0-cebb-4a22-9f35-5834698577ac" providerId="ADAL" clId="{0503DD1E-3195-41D0-B86B-665AB85FDE64}" dt="2026-01-06T20:47:12.568" v="100" actId="20577"/>
        <pc:sldMkLst>
          <pc:docMk/>
          <pc:sldMk cId="2116700986" sldId="270"/>
        </pc:sldMkLst>
        <pc:spChg chg="mod">
          <ac:chgData name="Nicholas Sisco" userId="39e924e0-cebb-4a22-9f35-5834698577ac" providerId="ADAL" clId="{0503DD1E-3195-41D0-B86B-665AB85FDE64}" dt="2026-01-06T20:47:12.568" v="100" actId="20577"/>
          <ac:spMkLst>
            <pc:docMk/>
            <pc:sldMk cId="2116700986" sldId="270"/>
            <ac:spMk id="3" creationId="{0686202C-7171-0E7F-688E-CE75167EDEC6}"/>
          </ac:spMkLst>
        </pc:spChg>
      </pc:sldChg>
      <pc:sldChg chg="modSp mod">
        <pc:chgData name="Nicholas Sisco" userId="39e924e0-cebb-4a22-9f35-5834698577ac" providerId="ADAL" clId="{0503DD1E-3195-41D0-B86B-665AB85FDE64}" dt="2026-01-06T20:50:50.523" v="210" actId="20577"/>
        <pc:sldMkLst>
          <pc:docMk/>
          <pc:sldMk cId="3533487223" sldId="271"/>
        </pc:sldMkLst>
        <pc:spChg chg="mod">
          <ac:chgData name="Nicholas Sisco" userId="39e924e0-cebb-4a22-9f35-5834698577ac" providerId="ADAL" clId="{0503DD1E-3195-41D0-B86B-665AB85FDE64}" dt="2026-01-06T20:50:50.523" v="210" actId="20577"/>
          <ac:spMkLst>
            <pc:docMk/>
            <pc:sldMk cId="3533487223" sldId="271"/>
            <ac:spMk id="3" creationId="{20398822-9095-FBDC-EA16-CD5929F85003}"/>
          </ac:spMkLst>
        </pc:spChg>
      </pc:sldChg>
      <pc:sldChg chg="addSp modSp mod">
        <pc:chgData name="Nicholas Sisco" userId="39e924e0-cebb-4a22-9f35-5834698577ac" providerId="ADAL" clId="{0503DD1E-3195-41D0-B86B-665AB85FDE64}" dt="2026-01-06T21:06:36.934" v="658" actId="20577"/>
        <pc:sldMkLst>
          <pc:docMk/>
          <pc:sldMk cId="1024596927" sldId="272"/>
        </pc:sldMkLst>
        <pc:spChg chg="mod">
          <ac:chgData name="Nicholas Sisco" userId="39e924e0-cebb-4a22-9f35-5834698577ac" providerId="ADAL" clId="{0503DD1E-3195-41D0-B86B-665AB85FDE64}" dt="2026-01-06T21:06:36.934" v="658" actId="20577"/>
          <ac:spMkLst>
            <pc:docMk/>
            <pc:sldMk cId="1024596927" sldId="272"/>
            <ac:spMk id="3" creationId="{907D8C2B-F438-1ED1-B7C2-01FC57774954}"/>
          </ac:spMkLst>
        </pc:spChg>
        <pc:spChg chg="add">
          <ac:chgData name="Nicholas Sisco" userId="39e924e0-cebb-4a22-9f35-5834698577ac" providerId="ADAL" clId="{0503DD1E-3195-41D0-B86B-665AB85FDE64}" dt="2026-01-06T20:52:57.558" v="222"/>
          <ac:spMkLst>
            <pc:docMk/>
            <pc:sldMk cId="1024596927" sldId="272"/>
            <ac:spMk id="4" creationId="{62EE7064-326E-03B9-3910-34ED5D4171DB}"/>
          </ac:spMkLst>
        </pc:spChg>
        <pc:spChg chg="add">
          <ac:chgData name="Nicholas Sisco" userId="39e924e0-cebb-4a22-9f35-5834698577ac" providerId="ADAL" clId="{0503DD1E-3195-41D0-B86B-665AB85FDE64}" dt="2026-01-06T20:53:00.420" v="223"/>
          <ac:spMkLst>
            <pc:docMk/>
            <pc:sldMk cId="1024596927" sldId="272"/>
            <ac:spMk id="5" creationId="{F2BF9949-CEEF-F656-5B4F-87047858C0C3}"/>
          </ac:spMkLst>
        </pc:spChg>
        <pc:spChg chg="add">
          <ac:chgData name="Nicholas Sisco" userId="39e924e0-cebb-4a22-9f35-5834698577ac" providerId="ADAL" clId="{0503DD1E-3195-41D0-B86B-665AB85FDE64}" dt="2026-01-06T21:00:59.468" v="440"/>
          <ac:spMkLst>
            <pc:docMk/>
            <pc:sldMk cId="1024596927" sldId="272"/>
            <ac:spMk id="6" creationId="{1F094F68-43FF-619A-70C7-0224F01B0EE8}"/>
          </ac:spMkLst>
        </pc:spChg>
        <pc:spChg chg="add">
          <ac:chgData name="Nicholas Sisco" userId="39e924e0-cebb-4a22-9f35-5834698577ac" providerId="ADAL" clId="{0503DD1E-3195-41D0-B86B-665AB85FDE64}" dt="2026-01-06T21:01:03.793" v="443"/>
          <ac:spMkLst>
            <pc:docMk/>
            <pc:sldMk cId="1024596927" sldId="272"/>
            <ac:spMk id="7" creationId="{0A73AD2C-1497-2A01-0DD6-5FD07B98D60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26D44-3659-2CDA-0629-4CB25E7CC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01576-060C-FAEB-522F-C2E1B51D6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29173-ED48-167D-514F-BBF5BE7B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2085C-5931-6E98-4C98-90AA5DE06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CF93A-1723-6A53-80F7-FFEFF426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007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EAEB-5008-C0B7-9F73-22A83729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FFA86-6B49-FE2B-C7FE-808D6DEB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CC924-4EFD-43B5-78B9-B02495B4F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F0255-C4B0-C68A-89F9-452444302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2F4E5-DFE6-79C4-E51D-2E7BB2DC8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65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09F9F-46E9-EC61-CAB5-E3A3A6702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8D019-FFA2-54E2-5D47-CB32D3010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CE06D-C40F-9E87-2E5D-C1A2BFE3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4297C-1B36-AE50-EA16-7A34E9C8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F3804-914F-CECD-7EAF-FA188A5E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84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3359-EAC9-45D7-A020-BA7AED2E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93803-DA90-8506-253B-FCAF3AEE7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0FF2D-7C49-FA4B-6837-6CF667C0D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E9392A-9C16-9D16-FF5D-4BD42D577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EEA0E-7B7B-159D-477D-27319E48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3FE91-76C8-C4C4-D111-84919A46F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63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F122-D7FB-B148-01AF-98D0A33E4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34DE8-894C-AC10-81F8-8616E31FE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0979D3-DCEC-3EFE-0FF9-F3B475EDE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E20529-4D24-6CFD-C55A-C2F58DA06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BA83D3-4EA0-1980-B91E-AC3278E690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216E4F-77EB-9A33-37CE-10FD8944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3AF6B0-C110-8D68-D6B3-FD8AFF344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EA0428-7AE6-0444-68D7-0798FF4D5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8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F439C-A7FC-F41A-FBEB-2A799278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9DC171-8BB9-8D27-C6B5-E8E7671BC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D2042-E466-5BC2-6831-FC8A9AA9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D51B2-C182-D332-24CE-BC3A2D848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21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AA64F5-7B4F-05F2-DADD-93B10CC04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A1CF6-105F-953D-3369-7D1EA32F6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6F6EF-EED4-5444-878D-42933FC8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0D479-B163-9DBF-1DE7-8DB624A03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BBF30-F680-70C2-A833-5D46EE5BB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B1803-C3D1-6473-9872-CB372B2BB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F60A4-3035-BF58-C6BF-2400D8B8F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DF9DA-BEC7-BE75-E8AE-9F05AB63C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48645-98DD-5995-B5CA-C76C1865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9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73243-6E9D-78B8-586B-87D90F6F1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EC827-B25A-09D1-C263-C30D9985A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33A524-D92F-E736-BA64-5FAB5B574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61AB8-0AE9-3504-9206-E8ECF155C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AB14F-2D78-8BDD-5886-DB86E311F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F2363-29F7-FF2B-1B9E-7F7C9D0D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61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C9E82-1FBA-C5AE-B051-8A57E5D8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ADE1B-12F5-7838-1D51-336B00180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5E72D-7C18-8684-C93F-CBCD5B2F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A0E81-F438-3244-182E-C0FE585D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3C1F80-643A-3736-EC05-1E25F7B7E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6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228757-6499-0A26-C97A-4627D89FD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BFDB8-1A68-01EF-D5B8-754D86D8B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9BF3C-BF1C-8C29-F200-4DB5C0EE1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E685C-072E-AE70-425B-3CAA07280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2D93D-A267-C812-591A-EA1C008C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59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10ECDD-D433-39B8-824A-2163F597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0F57C-E551-64EC-68ED-1DCC57D66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F7105-CB7D-B4D9-9DF4-68BF0AB64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18ED8-B143-4FCF-8B32-03DD96C79F42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595E-8673-FE03-EE3E-B7E2D9075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B84DB-AB57-05BE-16B2-C597F1E37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F18A1-5EF0-4FD9-AE30-9AEB7A85B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408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BB91-83EF-9BFD-A81C-52D62F51E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Commercial Data Processing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DE5575-B8E8-D1B2-7527-1BF4BAA6CE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20250107</a:t>
            </a:r>
          </a:p>
        </p:txBody>
      </p:sp>
    </p:spTree>
    <p:extLst>
      <p:ext uri="{BB962C8B-B14F-4D97-AF65-F5344CB8AC3E}">
        <p14:creationId xmlns:p14="http://schemas.microsoft.com/office/powerpoint/2010/main" val="2058168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8A97-3686-1222-0644-2CEDD2E7E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&amp;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FF623-9E85-6F2A-7E9B-05022C337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Current Commercial Data Processing Workflow</a:t>
            </a:r>
            <a:br>
              <a:rPr lang="en-US" dirty="0"/>
            </a:br>
            <a:r>
              <a:rPr lang="en-US" i="1" dirty="0"/>
              <a:t>Understanding, Transition Needs, and Automation in Parallel</a:t>
            </a:r>
            <a:endParaRPr lang="en-US" dirty="0"/>
          </a:p>
          <a:p>
            <a:r>
              <a:rPr lang="en-US" b="1" dirty="0"/>
              <a:t>Purpose</a:t>
            </a:r>
            <a:endParaRPr lang="en-US" dirty="0"/>
          </a:p>
          <a:p>
            <a:pPr lvl="1"/>
            <a:r>
              <a:rPr lang="en-US" dirty="0"/>
              <a:t>Restate Kal’s current commercial data process</a:t>
            </a:r>
          </a:p>
          <a:p>
            <a:pPr lvl="1"/>
            <a:r>
              <a:rPr lang="en-US" dirty="0"/>
              <a:t>Confirm shared understanding of the workflow and assumptions</a:t>
            </a:r>
          </a:p>
          <a:p>
            <a:pPr lvl="1"/>
            <a:r>
              <a:rPr lang="en-US" dirty="0"/>
              <a:t>Identify what is needed to transition ownership</a:t>
            </a:r>
          </a:p>
          <a:p>
            <a:pPr lvl="1"/>
            <a:r>
              <a:rPr lang="en-US" dirty="0"/>
              <a:t>Clarify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571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FE63C-E5CB-CF0C-79CA-EB79B85C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Workflow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2B82C-0719-B672-EB2B-CE6ADFB05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High-Level Process</a:t>
            </a:r>
            <a:endParaRPr lang="en-US" dirty="0"/>
          </a:p>
          <a:p>
            <a:pPr lvl="1"/>
            <a:r>
              <a:rPr lang="en-US" dirty="0"/>
              <a:t>Data receipt via secure transfer</a:t>
            </a:r>
          </a:p>
          <a:p>
            <a:pPr lvl="1"/>
            <a:r>
              <a:rPr lang="en-US" dirty="0"/>
              <a:t>Download, unpacking, and folder setup</a:t>
            </a:r>
          </a:p>
          <a:p>
            <a:pPr lvl="1"/>
            <a:r>
              <a:rPr lang="en-US" dirty="0"/>
              <a:t>Manual organization and verification</a:t>
            </a:r>
          </a:p>
          <a:p>
            <a:pPr lvl="1"/>
            <a:r>
              <a:rPr lang="en-US" dirty="0"/>
              <a:t>MRI handling</a:t>
            </a:r>
          </a:p>
          <a:p>
            <a:pPr lvl="1"/>
            <a:r>
              <a:rPr lang="en-US" dirty="0"/>
              <a:t>TDC handling</a:t>
            </a:r>
          </a:p>
          <a:p>
            <a:pPr lvl="1"/>
            <a:r>
              <a:rPr lang="en-US" dirty="0"/>
              <a:t>Treatment tracking</a:t>
            </a:r>
          </a:p>
          <a:p>
            <a:pPr lvl="1"/>
            <a:r>
              <a:rPr lang="en-US" dirty="0"/>
              <a:t>SQLite (</a:t>
            </a:r>
            <a:r>
              <a:rPr lang="en-US" dirty="0" err="1"/>
              <a:t>local.db</a:t>
            </a:r>
            <a:r>
              <a:rPr lang="en-US" dirty="0"/>
              <a:t>) review</a:t>
            </a:r>
          </a:p>
          <a:p>
            <a:pPr lvl="1"/>
            <a:r>
              <a:rPr lang="en-US" dirty="0"/>
              <a:t>PEDA execution</a:t>
            </a:r>
          </a:p>
          <a:p>
            <a:pPr lvl="1"/>
            <a:r>
              <a:rPr lang="en-US" dirty="0"/>
              <a:t>Post-PEDA cleanup</a:t>
            </a:r>
          </a:p>
          <a:p>
            <a:pPr lvl="1"/>
            <a:r>
              <a:rPr lang="en-US" dirty="0"/>
              <a:t>Upload, vaulting, and notification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456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81542-6131-7827-899E-FD744F905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 (MRI + TDC)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202C-7171-0E7F-688E-CE75167ED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Data Intake &amp; Setup</a:t>
            </a:r>
            <a:endParaRPr lang="en-US" dirty="0"/>
          </a:p>
          <a:p>
            <a:pPr lvl="1"/>
            <a:r>
              <a:rPr lang="en-US" dirty="0"/>
              <a:t>Files downloaded from PMI secure email link</a:t>
            </a:r>
          </a:p>
          <a:p>
            <a:pPr lvl="1"/>
            <a:r>
              <a:rPr lang="en-US" dirty="0"/>
              <a:t>Processed on RDC Toronto CPU</a:t>
            </a:r>
          </a:p>
          <a:p>
            <a:pPr lvl="1"/>
            <a:r>
              <a:rPr lang="en-US" dirty="0"/>
              <a:t>Script creates folder structure and unpacks ZIPs</a:t>
            </a:r>
          </a:p>
          <a:p>
            <a:pPr lvl="1"/>
            <a:endParaRPr lang="en-US" dirty="0"/>
          </a:p>
          <a:p>
            <a:r>
              <a:rPr lang="en-US" b="1" dirty="0"/>
              <a:t>MRI Handling</a:t>
            </a:r>
            <a:endParaRPr lang="en-US" dirty="0"/>
          </a:p>
          <a:p>
            <a:pPr lvl="1"/>
            <a:r>
              <a:rPr lang="en-US" dirty="0"/>
              <a:t>MRI ZIP unpacked and re-zipped</a:t>
            </a:r>
          </a:p>
          <a:p>
            <a:pPr lvl="1"/>
            <a:r>
              <a:rPr lang="en-US" dirty="0"/>
              <a:t>No file renaming or modification</a:t>
            </a:r>
          </a:p>
          <a:p>
            <a:pPr lvl="1"/>
            <a:r>
              <a:rPr lang="en-US" dirty="0"/>
              <a:t>De-identification with spot checks</a:t>
            </a:r>
          </a:p>
          <a:p>
            <a:pPr lvl="1"/>
            <a:endParaRPr lang="en-US" dirty="0"/>
          </a:p>
          <a:p>
            <a:r>
              <a:rPr lang="en-US" b="1" dirty="0"/>
              <a:t>TDC Handling</a:t>
            </a:r>
            <a:endParaRPr lang="en-US" dirty="0"/>
          </a:p>
          <a:p>
            <a:pPr lvl="1"/>
            <a:r>
              <a:rPr lang="en-US" dirty="0"/>
              <a:t>TDC ZIP unpacked and reorganized</a:t>
            </a:r>
          </a:p>
          <a:p>
            <a:pPr lvl="1"/>
            <a:r>
              <a:rPr lang="en-US" dirty="0"/>
              <a:t>Logs moved to expected locations</a:t>
            </a:r>
          </a:p>
          <a:p>
            <a:pPr lvl="1"/>
            <a:r>
              <a:rPr lang="en-US" dirty="0"/>
              <a:t>Session folders re-zipped</a:t>
            </a:r>
          </a:p>
          <a:p>
            <a:pPr lvl="1"/>
            <a:r>
              <a:rPr lang="en-US" dirty="0"/>
              <a:t>Raw folders removed after compression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70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562A-DA26-8C08-25EC-31991A9A9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Review, PEDA, and Closeout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98822-9095-FBDC-EA16-CD5929F8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Structured Review</a:t>
            </a:r>
            <a:endParaRPr lang="en-US" dirty="0"/>
          </a:p>
          <a:p>
            <a:pPr lvl="1"/>
            <a:r>
              <a:rPr lang="en-US" dirty="0" err="1"/>
              <a:t>local.db</a:t>
            </a:r>
            <a:r>
              <a:rPr lang="en-US" dirty="0"/>
              <a:t> opened manually</a:t>
            </a:r>
          </a:p>
          <a:p>
            <a:pPr lvl="1"/>
            <a:r>
              <a:rPr lang="en-US" dirty="0"/>
              <a:t>Patient-related fields checked</a:t>
            </a:r>
          </a:p>
          <a:p>
            <a:pPr lvl="1"/>
            <a:r>
              <a:rPr lang="en-US" dirty="0"/>
              <a:t>Identifiers removed if present</a:t>
            </a:r>
          </a:p>
          <a:p>
            <a:pPr lvl="1"/>
            <a:endParaRPr lang="en-US" dirty="0"/>
          </a:p>
          <a:p>
            <a:r>
              <a:rPr lang="en-US" b="1" dirty="0"/>
              <a:t>PEDA Execution</a:t>
            </a:r>
            <a:endParaRPr lang="en-US" dirty="0"/>
          </a:p>
          <a:p>
            <a:pPr lvl="1"/>
            <a:r>
              <a:rPr lang="en-US" dirty="0"/>
              <a:t>PEDA run via batch file</a:t>
            </a:r>
          </a:p>
          <a:p>
            <a:pPr lvl="1"/>
            <a:r>
              <a:rPr lang="en-US" dirty="0"/>
              <a:t>Progress monitored</a:t>
            </a:r>
          </a:p>
          <a:p>
            <a:pPr lvl="1"/>
            <a:r>
              <a:rPr lang="en-US" dirty="0"/>
              <a:t>Failures noted as needed</a:t>
            </a:r>
          </a:p>
          <a:p>
            <a:pPr lvl="1"/>
            <a:r>
              <a:rPr lang="en-US" dirty="0"/>
              <a:t>Limited concurrency to manage resources, i.e., not parallelized (trivial parallelization), yet.</a:t>
            </a:r>
          </a:p>
          <a:p>
            <a:pPr lvl="1"/>
            <a:endParaRPr lang="en-US" dirty="0"/>
          </a:p>
          <a:p>
            <a:r>
              <a:rPr lang="en-US" b="1" dirty="0"/>
              <a:t>Post-PEDA</a:t>
            </a:r>
            <a:endParaRPr lang="en-US" dirty="0"/>
          </a:p>
          <a:p>
            <a:pPr lvl="1"/>
            <a:r>
              <a:rPr lang="en-US" dirty="0"/>
              <a:t>Outputs separated (full data vs video)</a:t>
            </a:r>
          </a:p>
          <a:p>
            <a:pPr lvl="1"/>
            <a:r>
              <a:rPr lang="en-US" dirty="0"/>
              <a:t>Large files stripped from video outputs </a:t>
            </a:r>
          </a:p>
          <a:p>
            <a:pPr lvl="1"/>
            <a:r>
              <a:rPr lang="en-US" dirty="0"/>
              <a:t>Final artifacts zipped, uploaded, vaulted (sync.com via browser only)</a:t>
            </a:r>
          </a:p>
          <a:p>
            <a:pPr lvl="1"/>
            <a:r>
              <a:rPr lang="en-US" dirty="0"/>
              <a:t>Standard notification sent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487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F17D0-F5AC-6ED2-CBF6-BD7EDCD1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I’d Need to Take This 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8C2B-F438-1ED1-B7C2-01FC57774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Transition</a:t>
            </a:r>
            <a:endParaRPr lang="en-US" dirty="0"/>
          </a:p>
          <a:p>
            <a:pPr lvl="1"/>
            <a:r>
              <a:rPr lang="en-US" dirty="0"/>
              <a:t>Questions</a:t>
            </a:r>
          </a:p>
          <a:p>
            <a:pPr lvl="2"/>
            <a:r>
              <a:rPr lang="en-US" dirty="0"/>
              <a:t>Who decides whether a step is required versus historical?</a:t>
            </a:r>
          </a:p>
          <a:p>
            <a:pPr lvl="2"/>
            <a:r>
              <a:rPr lang="en-US" dirty="0"/>
              <a:t>Who decides whether specific fields (e.g., birth year) are preserved or removed?</a:t>
            </a:r>
          </a:p>
          <a:p>
            <a:pPr lvl="2"/>
            <a:r>
              <a:rPr lang="en-US" dirty="0"/>
              <a:t>For questions beyond code execution—such as missing data handling or PHI edge cases—who is the authoritative point of contact?</a:t>
            </a:r>
          </a:p>
          <a:p>
            <a:pPr lvl="2"/>
            <a:r>
              <a:rPr lang="en-US" dirty="0"/>
              <a:t>What is the governing SOP for these decisions and this process?</a:t>
            </a:r>
          </a:p>
          <a:p>
            <a:pPr lvl="3"/>
            <a:r>
              <a:rPr lang="en-US" dirty="0"/>
              <a:t>Does one exist today?</a:t>
            </a:r>
          </a:p>
          <a:p>
            <a:pPr lvl="3"/>
            <a:r>
              <a:rPr lang="en-US" dirty="0"/>
              <a:t>If not, is the expectation that I draft it? (I’m comfortable doing so.)</a:t>
            </a:r>
          </a:p>
          <a:p>
            <a:pPr lvl="2"/>
            <a:r>
              <a:rPr lang="en-US" dirty="0"/>
              <a:t>When judgment calls are required, who absorbs the risk?</a:t>
            </a:r>
          </a:p>
          <a:p>
            <a:pPr lvl="2"/>
            <a:r>
              <a:rPr lang="en-US" dirty="0"/>
              <a:t>How are decisions documented and defended later, e.g., during audits or reviews?</a:t>
            </a:r>
          </a:p>
          <a:p>
            <a:pPr lvl="1"/>
            <a:r>
              <a:rPr lang="en-US" dirty="0"/>
              <a:t>Defined scope and expectations</a:t>
            </a:r>
          </a:p>
          <a:p>
            <a:pPr lvl="1"/>
            <a:r>
              <a:rPr lang="en-US" dirty="0"/>
              <a:t>Access to equivalent processing environment</a:t>
            </a:r>
          </a:p>
          <a:p>
            <a:pPr lvl="1"/>
            <a:r>
              <a:rPr lang="en-US" dirty="0"/>
              <a:t>A concrete transition plan with a handoff point</a:t>
            </a:r>
          </a:p>
          <a:p>
            <a:pPr lvl="2"/>
            <a:r>
              <a:rPr lang="en-US" dirty="0"/>
              <a:t>I would like Kal to video record his screen for a GE, Siemens, and Philips case</a:t>
            </a:r>
          </a:p>
          <a:p>
            <a:pPr lvl="2"/>
            <a:r>
              <a:rPr lang="en-US" dirty="0"/>
              <a:t>No need to narrate, just screen record and I’ll dig through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596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8CEA2-B00A-03BB-6FA4-9504C608D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3182B-1F91-C6CB-1DEA-180770026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Parallel Automation Strategy</a:t>
            </a:r>
            <a:endParaRPr lang="en-US" dirty="0"/>
          </a:p>
          <a:p>
            <a:pPr lvl="1"/>
            <a:r>
              <a:rPr lang="en-US" dirty="0"/>
              <a:t>Replicate current assumptions first</a:t>
            </a:r>
          </a:p>
          <a:p>
            <a:pPr lvl="1"/>
            <a:r>
              <a:rPr lang="en-US" dirty="0"/>
              <a:t>Validate automated outputs against existing results</a:t>
            </a:r>
          </a:p>
          <a:p>
            <a:pPr lvl="1"/>
            <a:r>
              <a:rPr lang="en-US" dirty="0"/>
              <a:t>Run side-by-side until equivalence is confirmed</a:t>
            </a:r>
          </a:p>
          <a:p>
            <a:pPr lvl="1"/>
            <a:r>
              <a:rPr lang="en-US" dirty="0"/>
              <a:t>Make changes incrementally</a:t>
            </a:r>
          </a:p>
          <a:p>
            <a:pPr lvl="1"/>
            <a:r>
              <a:rPr lang="en-US" dirty="0"/>
              <a:t>Preserve current endpoints throughout</a:t>
            </a:r>
          </a:p>
          <a:p>
            <a:r>
              <a:rPr lang="en-US" b="1" dirty="0"/>
              <a:t>Goal</a:t>
            </a:r>
            <a:br>
              <a:rPr lang="en-US" dirty="0"/>
            </a:br>
            <a:r>
              <a:rPr lang="en-US" dirty="0"/>
              <a:t>Reduce manual risk over time without disrupting a working process</a:t>
            </a:r>
          </a:p>
          <a:p>
            <a:r>
              <a:rPr lang="en-US" dirty="0"/>
              <a:t>Risk-&gt; typos, PHI misses, data loss,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1496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456C4-6662-214A-D66D-E8B0A1CBB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 of This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DA487-2401-80C5-0DDE-0AA4DC908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Restate current commercial data processing workflow as implemented today</a:t>
            </a:r>
          </a:p>
          <a:p>
            <a:r>
              <a:rPr lang="en-US" dirty="0"/>
              <a:t>Confirm shared understanding of the process and assumptions</a:t>
            </a:r>
          </a:p>
          <a:p>
            <a:r>
              <a:rPr lang="en-US" dirty="0"/>
              <a:t>Identify what is needed to transition ownership</a:t>
            </a:r>
          </a:p>
          <a:p>
            <a:r>
              <a:rPr lang="en-US" dirty="0"/>
              <a:t>Clarify how automation will proceed in parallel without disrupting output</a:t>
            </a:r>
          </a:p>
        </p:txBody>
      </p:sp>
    </p:spTree>
    <p:extLst>
      <p:ext uri="{BB962C8B-B14F-4D97-AF65-F5344CB8AC3E}">
        <p14:creationId xmlns:p14="http://schemas.microsoft.com/office/powerpoint/2010/main" val="40355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9EF9-A8C9-75A2-C859-0EC078D95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High-Level Workflow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D35DC-6CBB-F734-D553-293A9E2CB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Data receipt (secure transfer)</a:t>
            </a:r>
          </a:p>
          <a:p>
            <a:r>
              <a:rPr lang="en-US" dirty="0"/>
              <a:t>Initial download and folder setup</a:t>
            </a:r>
          </a:p>
          <a:p>
            <a:r>
              <a:rPr lang="en-US" dirty="0"/>
              <a:t>Manual organization and verification</a:t>
            </a:r>
          </a:p>
          <a:p>
            <a:r>
              <a:rPr lang="en-US" dirty="0"/>
              <a:t>MRI handling</a:t>
            </a:r>
          </a:p>
          <a:p>
            <a:r>
              <a:rPr lang="en-US" dirty="0"/>
              <a:t>TDC handling</a:t>
            </a:r>
          </a:p>
          <a:p>
            <a:r>
              <a:rPr lang="en-US" dirty="0"/>
              <a:t>Treatment tracking</a:t>
            </a:r>
          </a:p>
          <a:p>
            <a:r>
              <a:rPr lang="en-US" dirty="0"/>
              <a:t>SQLite (</a:t>
            </a:r>
            <a:r>
              <a:rPr lang="en-US" dirty="0" err="1"/>
              <a:t>local.db</a:t>
            </a:r>
            <a:r>
              <a:rPr lang="en-US" dirty="0"/>
              <a:t>) review</a:t>
            </a:r>
          </a:p>
          <a:p>
            <a:r>
              <a:rPr lang="en-US" dirty="0"/>
              <a:t>PEDA execution</a:t>
            </a:r>
          </a:p>
          <a:p>
            <a:r>
              <a:rPr lang="en-US" dirty="0"/>
              <a:t>Post-PEDA cleanup</a:t>
            </a:r>
          </a:p>
          <a:p>
            <a:r>
              <a:rPr lang="en-US" dirty="0"/>
              <a:t>Upload, vaulting, and notification</a:t>
            </a:r>
          </a:p>
          <a:p>
            <a:endParaRPr lang="en-US" dirty="0"/>
          </a:p>
          <a:p>
            <a:r>
              <a:rPr lang="en-US" i="1" dirty="0"/>
              <a:t>Single-operator, serial process optimized for correctness and consistency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752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21C51-2F28-F400-D736-0E3AD7747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Receipt &amp;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5E465-2E1F-B741-74E9-E7E00AA21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Data Intake</a:t>
            </a:r>
            <a:endParaRPr lang="en-US" dirty="0"/>
          </a:p>
          <a:p>
            <a:r>
              <a:rPr lang="en-US" dirty="0"/>
              <a:t>Files received via PMI secure transfer</a:t>
            </a:r>
          </a:p>
          <a:p>
            <a:r>
              <a:rPr lang="en-US" dirty="0"/>
              <a:t>Downloaded from email link</a:t>
            </a:r>
          </a:p>
          <a:p>
            <a:r>
              <a:rPr lang="en-US" dirty="0"/>
              <a:t>Processing performed on a dedicated high-resource machine via remote desktop</a:t>
            </a:r>
          </a:p>
          <a:p>
            <a:r>
              <a:rPr lang="en-US" b="1" dirty="0"/>
              <a:t>Initial Setup</a:t>
            </a:r>
            <a:endParaRPr lang="en-US" dirty="0"/>
          </a:p>
          <a:p>
            <a:r>
              <a:rPr lang="en-US" dirty="0"/>
              <a:t>Files downloaded to local </a:t>
            </a:r>
            <a:r>
              <a:rPr lang="en-US" i="1" dirty="0"/>
              <a:t>Downloads</a:t>
            </a:r>
            <a:endParaRPr lang="en-US" dirty="0"/>
          </a:p>
          <a:p>
            <a:r>
              <a:rPr lang="en-US" dirty="0"/>
              <a:t>Script:</a:t>
            </a:r>
          </a:p>
          <a:p>
            <a:pPr lvl="1"/>
            <a:r>
              <a:rPr lang="en-US" dirty="0"/>
              <a:t>prompts for site and treatment</a:t>
            </a:r>
          </a:p>
          <a:p>
            <a:pPr lvl="1"/>
            <a:r>
              <a:rPr lang="en-US" dirty="0"/>
              <a:t>creates folder structure</a:t>
            </a:r>
          </a:p>
          <a:p>
            <a:pPr lvl="1"/>
            <a:r>
              <a:rPr lang="en-US" dirty="0"/>
              <a:t>copies ZIPs</a:t>
            </a:r>
          </a:p>
          <a:p>
            <a:pPr lvl="1"/>
            <a:r>
              <a:rPr lang="en-US" dirty="0"/>
              <a:t>unzips contents</a:t>
            </a:r>
          </a:p>
          <a:p>
            <a:r>
              <a:rPr lang="en-US" dirty="0"/>
              <a:t>Original ZIPs deleted after extraction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318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9617-FAD9-9B39-AD83-44CFA30E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Organization &amp; MRI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7FCE-C9B2-0CFE-74B1-9391BA75A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Manual Organization</a:t>
            </a:r>
            <a:endParaRPr lang="en-US" dirty="0"/>
          </a:p>
          <a:p>
            <a:r>
              <a:rPr lang="en-US" dirty="0"/>
              <a:t>Data moved into standard folders:</a:t>
            </a:r>
          </a:p>
          <a:p>
            <a:pPr lvl="1"/>
            <a:r>
              <a:rPr lang="en-US" dirty="0"/>
              <a:t>MRI</a:t>
            </a:r>
          </a:p>
          <a:p>
            <a:pPr lvl="1"/>
            <a:r>
              <a:rPr lang="en-US" dirty="0"/>
              <a:t>TDC</a:t>
            </a:r>
          </a:p>
          <a:p>
            <a:pPr lvl="1"/>
            <a:r>
              <a:rPr lang="en-US" dirty="0"/>
              <a:t>Treatment report</a:t>
            </a:r>
          </a:p>
          <a:p>
            <a:r>
              <a:rPr lang="en-US" dirty="0"/>
              <a:t>Treatment PDF opened to confirm no PHI, then closed</a:t>
            </a:r>
          </a:p>
          <a:p>
            <a:r>
              <a:rPr lang="en-US" b="1" dirty="0"/>
              <a:t>MRI Handling</a:t>
            </a:r>
            <a:endParaRPr lang="en-US" dirty="0"/>
          </a:p>
          <a:p>
            <a:pPr lvl="1"/>
            <a:r>
              <a:rPr lang="en-US" dirty="0"/>
              <a:t>MRI ZIP unpacked</a:t>
            </a:r>
          </a:p>
          <a:p>
            <a:pPr lvl="1"/>
            <a:r>
              <a:rPr lang="en-US" dirty="0"/>
              <a:t>ZIP deleted after extraction</a:t>
            </a:r>
          </a:p>
          <a:p>
            <a:pPr lvl="1"/>
            <a:r>
              <a:rPr lang="en-US" dirty="0"/>
              <a:t>No renaming or modification unless required</a:t>
            </a:r>
          </a:p>
          <a:p>
            <a:pPr lvl="1"/>
            <a:r>
              <a:rPr lang="en-US" dirty="0"/>
              <a:t>Relies on site-level de-identification</a:t>
            </a:r>
          </a:p>
          <a:p>
            <a:pPr lvl="1"/>
            <a:r>
              <a:rPr lang="en-US" dirty="0"/>
              <a:t>Spot checks performed as needed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4359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90BC0-BA90-3959-10C6-4A9C18273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TDC Handling &amp;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D7FC7-D43B-6EE9-2D75-DD9327C20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TDC Handling</a:t>
            </a:r>
            <a:endParaRPr lang="en-US" dirty="0"/>
          </a:p>
          <a:p>
            <a:pPr lvl="1"/>
            <a:r>
              <a:rPr lang="en-US" dirty="0"/>
              <a:t>TDC ZIP unpacked and deleted</a:t>
            </a:r>
          </a:p>
          <a:p>
            <a:pPr lvl="1"/>
            <a:r>
              <a:rPr lang="en-US" dirty="0"/>
              <a:t>Folders renamed or reorganized for consistency</a:t>
            </a:r>
          </a:p>
          <a:p>
            <a:pPr lvl="1"/>
            <a:r>
              <a:rPr lang="en-US" dirty="0"/>
              <a:t>Log folders moved to expected locations</a:t>
            </a:r>
          </a:p>
          <a:p>
            <a:pPr lvl="1"/>
            <a:r>
              <a:rPr lang="en-US" dirty="0"/>
              <a:t>Session folders re-zipped</a:t>
            </a:r>
          </a:p>
          <a:p>
            <a:pPr lvl="1"/>
            <a:r>
              <a:rPr lang="en-US" dirty="0"/>
              <a:t>Raw folders deleted after compression</a:t>
            </a:r>
          </a:p>
          <a:p>
            <a:r>
              <a:rPr lang="en-US" b="1" dirty="0"/>
              <a:t>Treatment Tracking</a:t>
            </a:r>
            <a:endParaRPr lang="en-US" dirty="0"/>
          </a:p>
          <a:p>
            <a:pPr lvl="1"/>
            <a:r>
              <a:rPr lang="en-US" dirty="0"/>
              <a:t>Tracker updated manually:</a:t>
            </a:r>
          </a:p>
          <a:p>
            <a:pPr lvl="2"/>
            <a:r>
              <a:rPr lang="en-US" dirty="0"/>
              <a:t>site ID</a:t>
            </a:r>
          </a:p>
          <a:p>
            <a:pPr lvl="2"/>
            <a:r>
              <a:rPr lang="en-US" dirty="0"/>
              <a:t>treatment number</a:t>
            </a:r>
          </a:p>
          <a:p>
            <a:pPr lvl="2"/>
            <a:r>
              <a:rPr lang="en-US" dirty="0"/>
              <a:t>upload date</a:t>
            </a:r>
          </a:p>
          <a:p>
            <a:pPr lvl="2"/>
            <a:r>
              <a:rPr lang="en-US" dirty="0"/>
              <a:t>study designation</a:t>
            </a:r>
          </a:p>
          <a:p>
            <a:pPr lvl="1"/>
            <a:r>
              <a:rPr lang="en-US" dirty="0"/>
              <a:t>Treatment marked “in processing”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52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BE254-9058-D763-0C6F-443257DA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Review &amp; PEDA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FE977-F25D-C31C-B1F3-02C05B6EE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SQLite (</a:t>
            </a:r>
            <a:r>
              <a:rPr lang="en-US" b="1" dirty="0" err="1"/>
              <a:t>local.db</a:t>
            </a:r>
            <a:r>
              <a:rPr lang="en-US" b="1" dirty="0"/>
              <a:t>) Review</a:t>
            </a:r>
            <a:endParaRPr lang="en-US" dirty="0"/>
          </a:p>
          <a:p>
            <a:pPr lvl="1"/>
            <a:r>
              <a:rPr lang="en-US" dirty="0"/>
              <a:t>Database opened manually</a:t>
            </a:r>
          </a:p>
          <a:p>
            <a:pPr lvl="1"/>
            <a:r>
              <a:rPr lang="en-US" dirty="0"/>
              <a:t>Patient-related fields checked</a:t>
            </a:r>
          </a:p>
          <a:p>
            <a:pPr lvl="1"/>
            <a:r>
              <a:rPr lang="en-US" dirty="0"/>
              <a:t>Any identifiers removed if present</a:t>
            </a:r>
          </a:p>
          <a:p>
            <a:pPr lvl="1"/>
            <a:r>
              <a:rPr lang="en-US" dirty="0"/>
              <a:t>Database closed after verification</a:t>
            </a:r>
          </a:p>
          <a:p>
            <a:r>
              <a:rPr lang="en-US" b="1" dirty="0"/>
              <a:t>Running PEDA</a:t>
            </a:r>
            <a:endParaRPr lang="en-US" dirty="0"/>
          </a:p>
          <a:p>
            <a:pPr lvl="1"/>
            <a:r>
              <a:rPr lang="en-US" dirty="0"/>
              <a:t>PEDA launched via batch file (“Run PEDA”)</a:t>
            </a:r>
          </a:p>
          <a:p>
            <a:pPr lvl="1"/>
            <a:r>
              <a:rPr lang="en-US" dirty="0"/>
              <a:t>No direct MATLAB interaction</a:t>
            </a:r>
          </a:p>
          <a:p>
            <a:pPr lvl="1"/>
            <a:r>
              <a:rPr lang="en-US" dirty="0"/>
              <a:t>Progress monitored intermittently</a:t>
            </a:r>
          </a:p>
          <a:p>
            <a:pPr lvl="1"/>
            <a:r>
              <a:rPr lang="en-US" dirty="0"/>
              <a:t>Failures retried as needed</a:t>
            </a:r>
          </a:p>
          <a:p>
            <a:pPr lvl="1"/>
            <a:r>
              <a:rPr lang="en-US" dirty="0"/>
              <a:t>Concurrency kept low to manage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230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51F3-2F41-E9CE-64CE-16D197691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Post-PEDA &amp; Closeout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A3E1E-A0A5-C456-0BAC-31D3CC62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Post-PEDA Cleanup</a:t>
            </a:r>
            <a:endParaRPr lang="en-US" dirty="0"/>
          </a:p>
          <a:p>
            <a:pPr lvl="1"/>
            <a:r>
              <a:rPr lang="en-US" dirty="0"/>
              <a:t>DICOM data zipped, raw folders removed</a:t>
            </a:r>
          </a:p>
          <a:p>
            <a:pPr lvl="1"/>
            <a:r>
              <a:rPr lang="en-US" dirty="0"/>
              <a:t>PEDA outputs separated:</a:t>
            </a:r>
          </a:p>
          <a:p>
            <a:pPr lvl="2"/>
            <a:r>
              <a:rPr lang="en-US" dirty="0"/>
              <a:t>full data</a:t>
            </a:r>
          </a:p>
          <a:p>
            <a:pPr lvl="2"/>
            <a:r>
              <a:rPr lang="en-US" dirty="0"/>
              <a:t>video-only outputs</a:t>
            </a:r>
          </a:p>
          <a:p>
            <a:pPr lvl="1"/>
            <a:r>
              <a:rPr lang="en-US" dirty="0"/>
              <a:t>.mat files stripped from video outputs</a:t>
            </a:r>
          </a:p>
          <a:p>
            <a:pPr lvl="1"/>
            <a:r>
              <a:rPr lang="en-US" dirty="0"/>
              <a:t>Final artifacts zipped</a:t>
            </a:r>
          </a:p>
          <a:p>
            <a:r>
              <a:rPr lang="en-US" b="1" dirty="0"/>
              <a:t>Upload &amp; Notification</a:t>
            </a:r>
            <a:endParaRPr lang="en-US" dirty="0"/>
          </a:p>
          <a:p>
            <a:pPr lvl="1"/>
            <a:r>
              <a:rPr lang="en-US" dirty="0"/>
              <a:t>All ZIPs uploaded to Sync</a:t>
            </a:r>
          </a:p>
          <a:p>
            <a:pPr lvl="1"/>
            <a:r>
              <a:rPr lang="en-US" dirty="0"/>
              <a:t>Data moved to vault locations</a:t>
            </a:r>
          </a:p>
          <a:p>
            <a:pPr lvl="1"/>
            <a:r>
              <a:rPr lang="en-US" dirty="0"/>
              <a:t>Standard notification email sent</a:t>
            </a:r>
          </a:p>
          <a:p>
            <a:pPr lvl="1"/>
            <a:r>
              <a:rPr lang="en-US" dirty="0"/>
              <a:t>Treatment marked complete</a:t>
            </a:r>
          </a:p>
          <a:p>
            <a:pPr lvl="1"/>
            <a:r>
              <a:rPr lang="en-US" dirty="0"/>
              <a:t>TDC logs copied to Data Scientist NAS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030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F28E6-8D41-4628-D952-E2B1A384F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Characteristics of the Current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5A5C99-0B19-0930-EEBC-683E1EDC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Makes This Work Today</a:t>
            </a:r>
            <a:endParaRPr lang="en-US" dirty="0"/>
          </a:p>
          <a:p>
            <a:pPr lvl="1"/>
            <a:r>
              <a:rPr lang="en-US" dirty="0"/>
              <a:t>Single accountable operator</a:t>
            </a:r>
          </a:p>
          <a:p>
            <a:pPr lvl="1"/>
            <a:r>
              <a:rPr lang="en-US" dirty="0"/>
              <a:t>Well-established assumptions</a:t>
            </a:r>
          </a:p>
          <a:p>
            <a:pPr lvl="1"/>
            <a:r>
              <a:rPr lang="en-US" dirty="0"/>
              <a:t>Manual verification where needed</a:t>
            </a:r>
          </a:p>
          <a:p>
            <a:pPr lvl="1"/>
            <a:r>
              <a:rPr lang="en-US" dirty="0"/>
              <a:t>Outcome-focused, not tool-focused</a:t>
            </a:r>
          </a:p>
          <a:p>
            <a:pPr lvl="1"/>
            <a:r>
              <a:rPr lang="en-US" dirty="0"/>
              <a:t>Optimized for correctness over scale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7912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16650-42D5-8B7C-5156-C4090833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I’d Need to Take This Over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E4DC3-E259-0B49-5D7F-D50488BE9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 Transition Ownership Successfully</a:t>
            </a:r>
            <a:endParaRPr lang="en-US" dirty="0"/>
          </a:p>
          <a:p>
            <a:pPr lvl="1"/>
            <a:r>
              <a:rPr lang="en-US" dirty="0"/>
              <a:t>Clear ownership and decision authority</a:t>
            </a:r>
          </a:p>
          <a:p>
            <a:pPr lvl="1"/>
            <a:r>
              <a:rPr lang="en-US" dirty="0"/>
              <a:t>Defined scope of responsibility</a:t>
            </a:r>
          </a:p>
          <a:p>
            <a:pPr lvl="1"/>
            <a:r>
              <a:rPr lang="en-US" dirty="0"/>
              <a:t>Access to equivalent processing environment</a:t>
            </a:r>
          </a:p>
          <a:p>
            <a:pPr lvl="1"/>
            <a:r>
              <a:rPr lang="en-US" dirty="0"/>
              <a:t>Agreement on required vs historical steps</a:t>
            </a:r>
          </a:p>
          <a:p>
            <a:pPr lvl="1"/>
            <a:r>
              <a:rPr lang="en-US" dirty="0"/>
              <a:t>Clarity on PEDA expectations and support</a:t>
            </a:r>
          </a:p>
          <a:p>
            <a:pPr lvl="1"/>
            <a:r>
              <a:rPr lang="en-US" dirty="0"/>
              <a:t>A concrete transition plan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39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66EB-0518-F880-8AAD-998ADF1EB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AFDCE-6579-C0BE-13A2-62B7DC490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Automation Approach </a:t>
            </a:r>
            <a:endParaRPr lang="en-US" dirty="0"/>
          </a:p>
          <a:p>
            <a:pPr lvl="1"/>
            <a:r>
              <a:rPr lang="en-US" dirty="0"/>
              <a:t>Replicate existing assumptions first</a:t>
            </a:r>
          </a:p>
          <a:p>
            <a:pPr lvl="1"/>
            <a:r>
              <a:rPr lang="en-US" dirty="0"/>
              <a:t>Validate automated outputs against current results</a:t>
            </a:r>
          </a:p>
          <a:p>
            <a:pPr lvl="1"/>
            <a:r>
              <a:rPr lang="en-US" dirty="0"/>
              <a:t>Run side-by-side until equivalence is clear</a:t>
            </a:r>
          </a:p>
          <a:p>
            <a:pPr lvl="1"/>
            <a:r>
              <a:rPr lang="en-US" dirty="0"/>
              <a:t>Make changes incrementally</a:t>
            </a:r>
          </a:p>
          <a:p>
            <a:pPr lvl="1"/>
            <a:r>
              <a:rPr lang="en-US" dirty="0"/>
              <a:t>Preserve current endpoints throughout</a:t>
            </a:r>
          </a:p>
          <a:p>
            <a:pPr lvl="1"/>
            <a:r>
              <a:rPr lang="en-US" dirty="0"/>
              <a:t>Automation as risk reduction, not behavior change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283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40E2C-3394-4C97-A39A-41A66B2C1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FDA37-9925-5CB4-23C9-E0A363232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 process is well-understood and reliable</a:t>
            </a:r>
          </a:p>
          <a:p>
            <a:r>
              <a:rPr lang="en-US" dirty="0"/>
              <a:t>Transition requires clarity, not reinvention</a:t>
            </a:r>
          </a:p>
          <a:p>
            <a:r>
              <a:rPr lang="en-US" dirty="0"/>
              <a:t>Automation can proceed safely in parallel</a:t>
            </a:r>
          </a:p>
          <a:p>
            <a:r>
              <a:rPr lang="en-US" dirty="0"/>
              <a:t>Goal is continuity, stability, and gradual improvement</a:t>
            </a:r>
          </a:p>
        </p:txBody>
      </p:sp>
    </p:spTree>
    <p:extLst>
      <p:ext uri="{BB962C8B-B14F-4D97-AF65-F5344CB8AC3E}">
        <p14:creationId xmlns:p14="http://schemas.microsoft.com/office/powerpoint/2010/main" val="1205096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951</Words>
  <Application>Microsoft Office PowerPoint</Application>
  <PresentationFormat>Widescreen</PresentationFormat>
  <Paragraphs>191</Paragraphs>
  <Slides>18</Slides>
  <Notes>0</Notes>
  <HiddenSlides>11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Commercial Data Processing Workflow</vt:lpstr>
      <vt:lpstr>Purpose &amp; Context</vt:lpstr>
      <vt:lpstr>End-to-End Workflow </vt:lpstr>
      <vt:lpstr>Data Preparation (MRI + TDC)</vt:lpstr>
      <vt:lpstr>Review, PEDA, and Closeout</vt:lpstr>
      <vt:lpstr>What I’d Need to Take This Over</vt:lpstr>
      <vt:lpstr>Automation in Parallel</vt:lpstr>
      <vt:lpstr>Purpose of This Walkthrough</vt:lpstr>
      <vt:lpstr>High-Level Workflow Overview</vt:lpstr>
      <vt:lpstr>Data Receipt &amp; Setup</vt:lpstr>
      <vt:lpstr>Manual Organization &amp; MRI Handling</vt:lpstr>
      <vt:lpstr>TDC Handling &amp; Tracking</vt:lpstr>
      <vt:lpstr>SQLite Review &amp; PEDA Execution</vt:lpstr>
      <vt:lpstr>Post-PEDA &amp; Closeout</vt:lpstr>
      <vt:lpstr>Key Characteristics of the Current Process</vt:lpstr>
      <vt:lpstr>What I’d Need to Take This Over</vt:lpstr>
      <vt:lpstr>Automation in Parallel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Sisco</dc:creator>
  <cp:lastModifiedBy>Nicholas Sisco</cp:lastModifiedBy>
  <cp:revision>1</cp:revision>
  <dcterms:created xsi:type="dcterms:W3CDTF">2026-01-06T18:48:53Z</dcterms:created>
  <dcterms:modified xsi:type="dcterms:W3CDTF">2026-01-06T21:06:41Z</dcterms:modified>
</cp:coreProperties>
</file>